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Noto Serif Display" charset="1" panose="02020502080505020204"/>
      <p:regular r:id="rId12"/>
    </p:embeddedFont>
    <p:embeddedFont>
      <p:font typeface="Noto Serif Display Italics" charset="1" panose="02020502080505090204"/>
      <p:regular r:id="rId13"/>
    </p:embeddedFont>
    <p:embeddedFont>
      <p:font typeface="Nunito Sans" charset="1" panose="00000000000000000000"/>
      <p:regular r:id="rId14"/>
    </p:embeddedFont>
    <p:embeddedFont>
      <p:font typeface="Open Sans" charset="1" panose="020B0606030504020204"/>
      <p:regular r:id="rId15"/>
    </p:embeddedFont>
    <p:embeddedFont>
      <p:font typeface="Nunito Sans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6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3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30846">
            <a:off x="3070627" y="1021874"/>
            <a:ext cx="16334102" cy="4165196"/>
          </a:xfrm>
          <a:custGeom>
            <a:avLst/>
            <a:gdLst/>
            <a:ahLst/>
            <a:cxnLst/>
            <a:rect r="r" b="b" t="t" l="l"/>
            <a:pathLst>
              <a:path h="4165196" w="16334102">
                <a:moveTo>
                  <a:pt x="0" y="0"/>
                </a:moveTo>
                <a:lnTo>
                  <a:pt x="16334102" y="0"/>
                </a:lnTo>
                <a:lnTo>
                  <a:pt x="16334102" y="4165196"/>
                </a:lnTo>
                <a:lnTo>
                  <a:pt x="0" y="4165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263274">
            <a:off x="13243846" y="-2522608"/>
            <a:ext cx="7224430" cy="7715411"/>
          </a:xfrm>
          <a:custGeom>
            <a:avLst/>
            <a:gdLst/>
            <a:ahLst/>
            <a:cxnLst/>
            <a:rect r="r" b="b" t="t" l="l"/>
            <a:pathLst>
              <a:path h="7715411" w="7224430">
                <a:moveTo>
                  <a:pt x="7224430" y="0"/>
                </a:moveTo>
                <a:lnTo>
                  <a:pt x="0" y="0"/>
                </a:lnTo>
                <a:lnTo>
                  <a:pt x="0" y="7715411"/>
                </a:lnTo>
                <a:lnTo>
                  <a:pt x="7224430" y="7715411"/>
                </a:lnTo>
                <a:lnTo>
                  <a:pt x="722443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92583">
            <a:off x="9633119" y="4252259"/>
            <a:ext cx="7972375" cy="8514186"/>
          </a:xfrm>
          <a:custGeom>
            <a:avLst/>
            <a:gdLst/>
            <a:ahLst/>
            <a:cxnLst/>
            <a:rect r="r" b="b" t="t" l="l"/>
            <a:pathLst>
              <a:path h="8514186" w="7972375">
                <a:moveTo>
                  <a:pt x="0" y="0"/>
                </a:moveTo>
                <a:lnTo>
                  <a:pt x="7972375" y="0"/>
                </a:lnTo>
                <a:lnTo>
                  <a:pt x="7972375" y="8514186"/>
                </a:lnTo>
                <a:lnTo>
                  <a:pt x="0" y="8514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2775">
            <a:off x="7844596" y="790135"/>
            <a:ext cx="4158114" cy="4158114"/>
          </a:xfrm>
          <a:custGeom>
            <a:avLst/>
            <a:gdLst/>
            <a:ahLst/>
            <a:cxnLst/>
            <a:rect r="r" b="b" t="t" l="l"/>
            <a:pathLst>
              <a:path h="4158114" w="4158114">
                <a:moveTo>
                  <a:pt x="0" y="0"/>
                </a:moveTo>
                <a:lnTo>
                  <a:pt x="4158114" y="0"/>
                </a:lnTo>
                <a:lnTo>
                  <a:pt x="4158114" y="4158114"/>
                </a:lnTo>
                <a:lnTo>
                  <a:pt x="0" y="4158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654534"/>
            <a:ext cx="12556911" cy="142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4"/>
              </a:lnSpc>
            </a:pPr>
            <a:r>
              <a:rPr lang="en-US" sz="8360">
                <a:solidFill>
                  <a:srgbClr val="FFFFFF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NUTRI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62133" y="4191670"/>
            <a:ext cx="3545022" cy="227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79"/>
              </a:lnSpc>
            </a:pPr>
            <a:r>
              <a:rPr lang="en-US" sz="13271" i="true" spc="-955">
                <a:solidFill>
                  <a:srgbClr val="AC88DC"/>
                </a:solidFill>
                <a:latin typeface="Noto Serif Display Italics"/>
                <a:ea typeface="Noto Serif Display Italics"/>
                <a:cs typeface="Noto Serif Display Italics"/>
                <a:sym typeface="Noto Serif Display Italics"/>
              </a:rPr>
              <a:t>Scan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00068"/>
            <a:ext cx="3735107" cy="63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8"/>
              </a:lnSpc>
            </a:pPr>
            <a:r>
              <a:rPr lang="en-US" sz="3095" spc="547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ATIVIDADE 2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772773"/>
            <a:ext cx="9544017" cy="642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8"/>
              </a:lnSpc>
            </a:pPr>
            <a:r>
              <a:rPr lang="en-US" sz="3095" spc="547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Pesquisa , Benchmark e Personas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39297" y="0"/>
            <a:ext cx="3148703" cy="10287000"/>
            <a:chOff x="0" y="0"/>
            <a:chExt cx="82928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928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29288">
                  <a:moveTo>
                    <a:pt x="0" y="0"/>
                  </a:moveTo>
                  <a:lnTo>
                    <a:pt x="829288" y="0"/>
                  </a:lnTo>
                  <a:lnTo>
                    <a:pt x="8292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13D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2928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73890" y="-804829"/>
            <a:ext cx="6649122" cy="3662047"/>
            <a:chOff x="0" y="0"/>
            <a:chExt cx="1249092" cy="6879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9092" cy="687945"/>
            </a:xfrm>
            <a:custGeom>
              <a:avLst/>
              <a:gdLst/>
              <a:ahLst/>
              <a:cxnLst/>
              <a:rect r="r" b="b" t="t" l="l"/>
              <a:pathLst>
                <a:path h="687945" w="1249092">
                  <a:moveTo>
                    <a:pt x="26780" y="0"/>
                  </a:moveTo>
                  <a:lnTo>
                    <a:pt x="1222312" y="0"/>
                  </a:lnTo>
                  <a:cubicBezTo>
                    <a:pt x="1229414" y="0"/>
                    <a:pt x="1236226" y="2821"/>
                    <a:pt x="1241248" y="7844"/>
                  </a:cubicBezTo>
                  <a:cubicBezTo>
                    <a:pt x="1246271" y="12866"/>
                    <a:pt x="1249092" y="19678"/>
                    <a:pt x="1249092" y="26780"/>
                  </a:cubicBezTo>
                  <a:lnTo>
                    <a:pt x="1249092" y="661165"/>
                  </a:lnTo>
                  <a:cubicBezTo>
                    <a:pt x="1249092" y="668268"/>
                    <a:pt x="1246271" y="675080"/>
                    <a:pt x="1241248" y="680102"/>
                  </a:cubicBezTo>
                  <a:cubicBezTo>
                    <a:pt x="1236226" y="685124"/>
                    <a:pt x="1229414" y="687945"/>
                    <a:pt x="1222312" y="687945"/>
                  </a:cubicBezTo>
                  <a:lnTo>
                    <a:pt x="26780" y="687945"/>
                  </a:lnTo>
                  <a:cubicBezTo>
                    <a:pt x="11990" y="687945"/>
                    <a:pt x="0" y="675956"/>
                    <a:pt x="0" y="661165"/>
                  </a:cubicBezTo>
                  <a:lnTo>
                    <a:pt x="0" y="26780"/>
                  </a:lnTo>
                  <a:cubicBezTo>
                    <a:pt x="0" y="19678"/>
                    <a:pt x="2821" y="12866"/>
                    <a:pt x="7844" y="7844"/>
                  </a:cubicBezTo>
                  <a:cubicBezTo>
                    <a:pt x="12866" y="2821"/>
                    <a:pt x="19678" y="0"/>
                    <a:pt x="2678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825" r="0" b="-10825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801806" y="4351950"/>
            <a:ext cx="4607757" cy="5935050"/>
          </a:xfrm>
          <a:custGeom>
            <a:avLst/>
            <a:gdLst/>
            <a:ahLst/>
            <a:cxnLst/>
            <a:rect r="r" b="b" t="t" l="l"/>
            <a:pathLst>
              <a:path h="5935050" w="4607757">
                <a:moveTo>
                  <a:pt x="0" y="0"/>
                </a:moveTo>
                <a:lnTo>
                  <a:pt x="4607756" y="0"/>
                </a:lnTo>
                <a:lnTo>
                  <a:pt x="4607756" y="5935050"/>
                </a:lnTo>
                <a:lnTo>
                  <a:pt x="0" y="593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731612" y="5313622"/>
            <a:ext cx="3675988" cy="3675988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221526">
            <a:off x="9454160" y="8630016"/>
            <a:ext cx="3807784" cy="1256569"/>
          </a:xfrm>
          <a:custGeom>
            <a:avLst/>
            <a:gdLst/>
            <a:ahLst/>
            <a:cxnLst/>
            <a:rect r="r" b="b" t="t" l="l"/>
            <a:pathLst>
              <a:path h="1256569" w="3807784">
                <a:moveTo>
                  <a:pt x="0" y="0"/>
                </a:moveTo>
                <a:lnTo>
                  <a:pt x="3807784" y="0"/>
                </a:lnTo>
                <a:lnTo>
                  <a:pt x="3807784" y="1256568"/>
                </a:lnTo>
                <a:lnTo>
                  <a:pt x="0" y="125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34087" y="3136981"/>
            <a:ext cx="10580344" cy="524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0"/>
              </a:lnSpc>
              <a:spcBef>
                <a:spcPct val="0"/>
              </a:spcBef>
            </a:pPr>
            <a:r>
              <a:rPr lang="en-US" sz="3014">
                <a:solidFill>
                  <a:srgbClr val="0B0B0B"/>
                </a:solidFill>
                <a:latin typeface="Nunito Sans"/>
                <a:ea typeface="Nunito Sans"/>
                <a:cs typeface="Nunito Sans"/>
                <a:sym typeface="Nunito Sans"/>
              </a:rPr>
              <a:t>Pesquisa publicada na revista científica European Journal of Public Health (2008), realizada por Judith R. Cornelisse-Vermaat e colaboradores, comparando consumidores alérgicos da Holanda e da Grécia. O estudo identificou que muitos participantes tinham dificuldades para compreender os rótulos dos alimentos, gerando insegurança durante as compras e reforçando a necessidade de melhorar a comunicação sobre alergênicos.</a:t>
            </a:r>
          </a:p>
          <a:p>
            <a:pPr algn="l" marL="0" indent="0" lvl="0">
              <a:lnSpc>
                <a:spcPts val="42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2072" y="571467"/>
            <a:ext cx="5064030" cy="108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8"/>
              </a:lnSpc>
            </a:pPr>
            <a:r>
              <a:rPr lang="en-US" sz="8240" spc="-502">
                <a:solidFill>
                  <a:srgbClr val="392053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PESQUISA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5105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13D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313D21"/>
                  </a:solidFill>
                  <a:latin typeface="Open Sans"/>
                  <a:ea typeface="Open Sans"/>
                  <a:cs typeface="Open Sans"/>
                  <a:sym typeface="Open Sans"/>
                </a:rPr>
                <a:t>Consultoria em Nutrição Esportiva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5076">
            <a:off x="10155124" y="124925"/>
            <a:ext cx="1693374" cy="1396904"/>
            <a:chOff x="0" y="0"/>
            <a:chExt cx="446833" cy="3686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833" cy="368603"/>
            </a:xfrm>
            <a:custGeom>
              <a:avLst/>
              <a:gdLst/>
              <a:ahLst/>
              <a:cxnLst/>
              <a:rect r="r" b="b" t="t" l="l"/>
              <a:pathLst>
                <a:path h="368603" w="446833">
                  <a:moveTo>
                    <a:pt x="105153" y="0"/>
                  </a:moveTo>
                  <a:lnTo>
                    <a:pt x="341680" y="0"/>
                  </a:lnTo>
                  <a:cubicBezTo>
                    <a:pt x="369568" y="0"/>
                    <a:pt x="396315" y="11079"/>
                    <a:pt x="416035" y="30799"/>
                  </a:cubicBezTo>
                  <a:cubicBezTo>
                    <a:pt x="435755" y="50519"/>
                    <a:pt x="446833" y="77265"/>
                    <a:pt x="446833" y="105153"/>
                  </a:cubicBezTo>
                  <a:lnTo>
                    <a:pt x="446833" y="263450"/>
                  </a:lnTo>
                  <a:cubicBezTo>
                    <a:pt x="446833" y="321524"/>
                    <a:pt x="399755" y="368603"/>
                    <a:pt x="341680" y="368603"/>
                  </a:cubicBezTo>
                  <a:lnTo>
                    <a:pt x="105153" y="368603"/>
                  </a:lnTo>
                  <a:cubicBezTo>
                    <a:pt x="77265" y="368603"/>
                    <a:pt x="50519" y="357525"/>
                    <a:pt x="30799" y="337805"/>
                  </a:cubicBezTo>
                  <a:cubicBezTo>
                    <a:pt x="11079" y="318084"/>
                    <a:pt x="0" y="291338"/>
                    <a:pt x="0" y="263450"/>
                  </a:cubicBezTo>
                  <a:lnTo>
                    <a:pt x="0" y="105153"/>
                  </a:lnTo>
                  <a:cubicBezTo>
                    <a:pt x="0" y="77265"/>
                    <a:pt x="11079" y="50519"/>
                    <a:pt x="30799" y="30799"/>
                  </a:cubicBezTo>
                  <a:cubicBezTo>
                    <a:pt x="50519" y="11079"/>
                    <a:pt x="77265" y="0"/>
                    <a:pt x="10515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611" r="0" b="-1061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53555" y="1824031"/>
            <a:ext cx="3984685" cy="2594373"/>
            <a:chOff x="0" y="0"/>
            <a:chExt cx="675441" cy="439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5441" cy="439770"/>
            </a:xfrm>
            <a:custGeom>
              <a:avLst/>
              <a:gdLst/>
              <a:ahLst/>
              <a:cxnLst/>
              <a:rect r="r" b="b" t="t" l="l"/>
              <a:pathLst>
                <a:path h="439770" w="675441">
                  <a:moveTo>
                    <a:pt x="44687" y="0"/>
                  </a:moveTo>
                  <a:lnTo>
                    <a:pt x="630754" y="0"/>
                  </a:lnTo>
                  <a:cubicBezTo>
                    <a:pt x="655434" y="0"/>
                    <a:pt x="675441" y="20007"/>
                    <a:pt x="675441" y="44687"/>
                  </a:cubicBezTo>
                  <a:lnTo>
                    <a:pt x="675441" y="395083"/>
                  </a:lnTo>
                  <a:cubicBezTo>
                    <a:pt x="675441" y="419763"/>
                    <a:pt x="655434" y="439770"/>
                    <a:pt x="630754" y="439770"/>
                  </a:cubicBezTo>
                  <a:lnTo>
                    <a:pt x="44687" y="439770"/>
                  </a:lnTo>
                  <a:cubicBezTo>
                    <a:pt x="20007" y="439770"/>
                    <a:pt x="0" y="419763"/>
                    <a:pt x="0" y="395083"/>
                  </a:cubicBezTo>
                  <a:lnTo>
                    <a:pt x="0" y="44687"/>
                  </a:lnTo>
                  <a:cubicBezTo>
                    <a:pt x="0" y="20007"/>
                    <a:pt x="20007" y="0"/>
                    <a:pt x="4468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507" r="0" b="-14507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87274" y="4878034"/>
            <a:ext cx="1000212" cy="1000212"/>
          </a:xfrm>
          <a:custGeom>
            <a:avLst/>
            <a:gdLst/>
            <a:ahLst/>
            <a:cxnLst/>
            <a:rect r="r" b="b" t="t" l="l"/>
            <a:pathLst>
              <a:path h="1000212" w="1000212">
                <a:moveTo>
                  <a:pt x="0" y="0"/>
                </a:moveTo>
                <a:lnTo>
                  <a:pt x="1000213" y="0"/>
                </a:lnTo>
                <a:lnTo>
                  <a:pt x="1000213" y="1000212"/>
                </a:lnTo>
                <a:lnTo>
                  <a:pt x="0" y="1000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568953" y="4886716"/>
            <a:ext cx="990210" cy="1000212"/>
          </a:xfrm>
          <a:custGeom>
            <a:avLst/>
            <a:gdLst/>
            <a:ahLst/>
            <a:cxnLst/>
            <a:rect r="r" b="b" t="t" l="l"/>
            <a:pathLst>
              <a:path h="1000212" w="990210">
                <a:moveTo>
                  <a:pt x="0" y="0"/>
                </a:moveTo>
                <a:lnTo>
                  <a:pt x="990210" y="0"/>
                </a:lnTo>
                <a:lnTo>
                  <a:pt x="990210" y="1000213"/>
                </a:lnTo>
                <a:lnTo>
                  <a:pt x="0" y="10002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36798" y="666742"/>
            <a:ext cx="983696" cy="1157289"/>
          </a:xfrm>
          <a:custGeom>
            <a:avLst/>
            <a:gdLst/>
            <a:ahLst/>
            <a:cxnLst/>
            <a:rect r="r" b="b" t="t" l="l"/>
            <a:pathLst>
              <a:path h="1157289" w="983696">
                <a:moveTo>
                  <a:pt x="0" y="0"/>
                </a:moveTo>
                <a:lnTo>
                  <a:pt x="983696" y="0"/>
                </a:lnTo>
                <a:lnTo>
                  <a:pt x="983696" y="1157289"/>
                </a:lnTo>
                <a:lnTo>
                  <a:pt x="0" y="1157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87274" y="782915"/>
            <a:ext cx="7969369" cy="104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3"/>
              </a:lnSpc>
            </a:pPr>
            <a:r>
              <a:rPr lang="en-US" sz="7932" spc="-483">
                <a:solidFill>
                  <a:srgbClr val="FFFFFF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BENCHMARK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90134" y="1448347"/>
            <a:ext cx="10783185" cy="226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7"/>
              </a:lnSpc>
            </a:pPr>
          </a:p>
          <a:p>
            <a:pPr algn="l">
              <a:lnSpc>
                <a:spcPts val="3617"/>
              </a:lnSpc>
            </a:pP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Ap</a:t>
            </a: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licativo voltado para pessoas com alergias e restrições alimentares, utilizando escaneamento de código de barras para identificar ingredientes de risco.</a:t>
            </a:r>
          </a:p>
          <a:p>
            <a:pPr algn="l" marL="0" indent="0" lvl="0">
              <a:lnSpc>
                <a:spcPts val="361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905778" y="882375"/>
            <a:ext cx="2149687" cy="61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9"/>
              </a:lnSpc>
              <a:spcBef>
                <a:spcPct val="0"/>
              </a:spcBef>
            </a:pPr>
            <a:r>
              <a:rPr lang="en-US" b="true" sz="3592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Spoonful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8298" y="5830621"/>
            <a:ext cx="4269942" cy="318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Pontos</a:t>
            </a: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pos</a:t>
            </a: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itivos</a:t>
            </a:r>
          </a:p>
          <a:p>
            <a:pPr algn="l" marL="557929" indent="-278964" lvl="1">
              <a:lnSpc>
                <a:spcPts val="3617"/>
              </a:lnSpc>
              <a:buFont typeface="Arial"/>
              <a:buChar char="•"/>
            </a:pP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Foco em alergias alimentares</a:t>
            </a:r>
          </a:p>
          <a:p>
            <a:pPr algn="l" marL="557929" indent="-278964" lvl="1">
              <a:lnSpc>
                <a:spcPts val="3617"/>
              </a:lnSpc>
              <a:buFont typeface="Arial"/>
              <a:buChar char="•"/>
            </a:pP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Alertas rápidos e claros</a:t>
            </a:r>
          </a:p>
          <a:p>
            <a:pPr algn="l" marL="557929" indent="-278964" lvl="1">
              <a:lnSpc>
                <a:spcPts val="3617"/>
              </a:lnSpc>
              <a:buFont typeface="Arial"/>
              <a:buChar char="•"/>
            </a:pP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Personalização das restrições</a:t>
            </a:r>
          </a:p>
          <a:p>
            <a:pPr algn="l" marL="0" indent="0" lvl="0">
              <a:lnSpc>
                <a:spcPts val="3617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017809" y="5830621"/>
            <a:ext cx="4269942" cy="272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Pontos</a:t>
            </a: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nega</a:t>
            </a: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tivos</a:t>
            </a:r>
          </a:p>
          <a:p>
            <a:pPr algn="l" marL="557929" indent="-278964" lvl="1">
              <a:lnSpc>
                <a:spcPts val="3617"/>
              </a:lnSpc>
              <a:buFont typeface="Arial"/>
              <a:buChar char="•"/>
            </a:pP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Recursos premium pagos</a:t>
            </a:r>
          </a:p>
          <a:p>
            <a:pPr algn="l" marL="557929" indent="-278964" lvl="1">
              <a:lnSpc>
                <a:spcPts val="3617"/>
              </a:lnSpc>
              <a:buFont typeface="Arial"/>
              <a:buChar char="•"/>
            </a:pP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Cob</a:t>
            </a:r>
            <a:r>
              <a:rPr lang="en-US" sz="2584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ertura de produtos varia por país</a:t>
            </a:r>
          </a:p>
          <a:p>
            <a:pPr algn="l" marL="0" indent="0" lvl="0">
              <a:lnSpc>
                <a:spcPts val="3617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919581" y="3598642"/>
            <a:ext cx="6391899" cy="304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6"/>
              </a:lnSpc>
            </a:pPr>
            <a:r>
              <a:rPr lang="en-US" sz="289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Principais recursos</a:t>
            </a:r>
          </a:p>
          <a:p>
            <a:pPr algn="l" marL="623963" indent="-311982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Leitura de código de barras</a:t>
            </a:r>
          </a:p>
          <a:p>
            <a:pPr algn="l" marL="623963" indent="-311982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Identificação de alergênicos</a:t>
            </a:r>
          </a:p>
          <a:p>
            <a:pPr algn="l" marL="623963" indent="-311982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Perfil personalizado</a:t>
            </a:r>
          </a:p>
          <a:p>
            <a:pPr algn="l" marL="623963" indent="-311982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Alertas de risco</a:t>
            </a:r>
          </a:p>
          <a:p>
            <a:pPr algn="l" marL="0" indent="0" lvl="0">
              <a:lnSpc>
                <a:spcPts val="40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39297" y="0"/>
            <a:ext cx="3148703" cy="10287000"/>
            <a:chOff x="0" y="0"/>
            <a:chExt cx="82928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928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29288">
                  <a:moveTo>
                    <a:pt x="0" y="0"/>
                  </a:moveTo>
                  <a:lnTo>
                    <a:pt x="829288" y="0"/>
                  </a:lnTo>
                  <a:lnTo>
                    <a:pt x="8292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13D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2928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68023" y="-258294"/>
            <a:ext cx="5719977" cy="3724198"/>
            <a:chOff x="0" y="0"/>
            <a:chExt cx="675441" cy="439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5441" cy="439770"/>
            </a:xfrm>
            <a:custGeom>
              <a:avLst/>
              <a:gdLst/>
              <a:ahLst/>
              <a:cxnLst/>
              <a:rect r="r" b="b" t="t" l="l"/>
              <a:pathLst>
                <a:path h="439770" w="675441">
                  <a:moveTo>
                    <a:pt x="31130" y="0"/>
                  </a:moveTo>
                  <a:lnTo>
                    <a:pt x="644311" y="0"/>
                  </a:lnTo>
                  <a:cubicBezTo>
                    <a:pt x="652567" y="0"/>
                    <a:pt x="660485" y="3280"/>
                    <a:pt x="666323" y="9118"/>
                  </a:cubicBezTo>
                  <a:cubicBezTo>
                    <a:pt x="672161" y="14956"/>
                    <a:pt x="675441" y="22874"/>
                    <a:pt x="675441" y="31130"/>
                  </a:cubicBezTo>
                  <a:lnTo>
                    <a:pt x="675441" y="408640"/>
                  </a:lnTo>
                  <a:cubicBezTo>
                    <a:pt x="675441" y="416896"/>
                    <a:pt x="672161" y="424814"/>
                    <a:pt x="666323" y="430652"/>
                  </a:cubicBezTo>
                  <a:cubicBezTo>
                    <a:pt x="660485" y="436490"/>
                    <a:pt x="652567" y="439770"/>
                    <a:pt x="644311" y="439770"/>
                  </a:cubicBezTo>
                  <a:lnTo>
                    <a:pt x="31130" y="439770"/>
                  </a:lnTo>
                  <a:cubicBezTo>
                    <a:pt x="22874" y="439770"/>
                    <a:pt x="14956" y="436490"/>
                    <a:pt x="9118" y="430652"/>
                  </a:cubicBezTo>
                  <a:cubicBezTo>
                    <a:pt x="3280" y="424814"/>
                    <a:pt x="0" y="416896"/>
                    <a:pt x="0" y="408640"/>
                  </a:cubicBezTo>
                  <a:lnTo>
                    <a:pt x="0" y="31130"/>
                  </a:lnTo>
                  <a:cubicBezTo>
                    <a:pt x="0" y="22874"/>
                    <a:pt x="3280" y="14956"/>
                    <a:pt x="9118" y="9118"/>
                  </a:cubicBezTo>
                  <a:cubicBezTo>
                    <a:pt x="14956" y="3280"/>
                    <a:pt x="22874" y="0"/>
                    <a:pt x="311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68" r="0" b="-1068"/>
              </a:stretch>
            </a:blip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7645" y="2059343"/>
            <a:ext cx="2213165" cy="2813120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898861" y="7089542"/>
            <a:ext cx="475367" cy="406439"/>
          </a:xfrm>
          <a:custGeom>
            <a:avLst/>
            <a:gdLst/>
            <a:ahLst/>
            <a:cxnLst/>
            <a:rect r="r" b="b" t="t" l="l"/>
            <a:pathLst>
              <a:path h="406439" w="475367">
                <a:moveTo>
                  <a:pt x="0" y="0"/>
                </a:moveTo>
                <a:lnTo>
                  <a:pt x="475367" y="0"/>
                </a:lnTo>
                <a:lnTo>
                  <a:pt x="475367" y="406438"/>
                </a:lnTo>
                <a:lnTo>
                  <a:pt x="0" y="406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072" y="571467"/>
            <a:ext cx="7506619" cy="211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8"/>
              </a:lnSpc>
            </a:pPr>
            <a:r>
              <a:rPr lang="en-US" sz="8240" spc="-502">
                <a:solidFill>
                  <a:srgbClr val="392053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PERSONA PRIORITÁRIA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81934" y="2744771"/>
            <a:ext cx="7246439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spc="-152">
                <a:solidFill>
                  <a:srgbClr val="39205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Ana Beatriz Rocha</a:t>
            </a:r>
          </a:p>
          <a:p>
            <a:pPr algn="ctr">
              <a:lnSpc>
                <a:spcPts val="3500"/>
              </a:lnSpc>
            </a:pPr>
            <a:r>
              <a:rPr lang="en-US" b="true" sz="2500" spc="-152">
                <a:solidFill>
                  <a:srgbClr val="39205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32 anos | Analista Administrativa | Salvador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 spc="-152">
                <a:solidFill>
                  <a:srgbClr val="39205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Condição: Doença Celíaca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095875"/>
            <a:ext cx="7296612" cy="148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  <a:spcBef>
                <a:spcPct val="0"/>
              </a:spcBef>
            </a:pPr>
            <a:r>
              <a:rPr lang="en-US" b="true" sz="2884">
                <a:solidFill>
                  <a:srgbClr val="39205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🎯 Obj</a:t>
            </a:r>
            <a:r>
              <a:rPr lang="en-US" b="true" sz="2884">
                <a:solidFill>
                  <a:srgbClr val="39205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etivo</a:t>
            </a:r>
          </a:p>
          <a:p>
            <a:pPr algn="ctr">
              <a:lnSpc>
                <a:spcPts val="4037"/>
              </a:lnSpc>
              <a:spcBef>
                <a:spcPct val="0"/>
              </a:spcBef>
            </a:pPr>
            <a:r>
              <a:rPr lang="en-US" sz="2884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Saber em poucos segundos se um produto é seguro para ela.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4228" y="7041917"/>
            <a:ext cx="6751442" cy="183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6"/>
              </a:lnSpc>
            </a:pPr>
            <a:r>
              <a:rPr lang="en-US" sz="2576" b="true">
                <a:solidFill>
                  <a:srgbClr val="39205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Principal dor</a:t>
            </a:r>
          </a:p>
          <a:p>
            <a:pPr algn="just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Rótulos pequenos e termos técnicos tornam a id</a:t>
            </a:r>
            <a:r>
              <a:rPr lang="en-US" sz="2676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entificação do glúten demorada e insegura.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76182" y="900277"/>
            <a:ext cx="10935637" cy="211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8"/>
              </a:lnSpc>
            </a:pPr>
            <a:r>
              <a:rPr lang="en-US" sz="8240" spc="-502">
                <a:solidFill>
                  <a:srgbClr val="392053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NECESSIDADE QUE O APP DEVERÁ ATENDER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8807" y="3442208"/>
            <a:ext cx="7748172" cy="256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 spc="-178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Objetivo do NutriScan</a:t>
            </a:r>
          </a:p>
          <a:p>
            <a:pPr algn="l">
              <a:lnSpc>
                <a:spcPts val="4095"/>
              </a:lnSpc>
            </a:pPr>
            <a:r>
              <a:rPr lang="en-US" sz="2925" spc="-178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✅ </a:t>
            </a:r>
            <a:r>
              <a:rPr lang="en-US" sz="2925" spc="-178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Identificar</a:t>
            </a:r>
            <a:r>
              <a:rPr lang="en-US" sz="2925" spc="-178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rapidamente se um produto é seguro para pessoas com restrições alimentares.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</a:p>
          <a:p>
            <a:pPr algn="l">
              <a:lnSpc>
                <a:spcPts val="4095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07240" y="0"/>
            <a:ext cx="4607757" cy="5935050"/>
          </a:xfrm>
          <a:custGeom>
            <a:avLst/>
            <a:gdLst/>
            <a:ahLst/>
            <a:cxnLst/>
            <a:rect r="r" b="b" t="t" l="l"/>
            <a:pathLst>
              <a:path h="5935050" w="4607757">
                <a:moveTo>
                  <a:pt x="0" y="0"/>
                </a:moveTo>
                <a:lnTo>
                  <a:pt x="4607756" y="0"/>
                </a:lnTo>
                <a:lnTo>
                  <a:pt x="4607756" y="5935050"/>
                </a:lnTo>
                <a:lnTo>
                  <a:pt x="0" y="5935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45268" y="3735462"/>
            <a:ext cx="7525054" cy="364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2966" spc="-180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Como funciona</a:t>
            </a:r>
          </a:p>
          <a:p>
            <a:pPr algn="l">
              <a:lnSpc>
                <a:spcPts val="4152"/>
              </a:lnSpc>
            </a:pPr>
            <a:r>
              <a:rPr lang="en-US" sz="2966" spc="-180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📷 Escan</a:t>
            </a:r>
            <a:r>
              <a:rPr lang="en-US" sz="2966" spc="-180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eamento do produto pela câmera.</a:t>
            </a:r>
          </a:p>
          <a:p>
            <a:pPr algn="l">
              <a:lnSpc>
                <a:spcPts val="4152"/>
              </a:lnSpc>
            </a:pPr>
            <a:r>
              <a:rPr lang="en-US" sz="2966" spc="-180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⚡</a:t>
            </a:r>
            <a:r>
              <a:rPr lang="en-US" sz="2966" spc="-180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R</a:t>
            </a:r>
            <a:r>
              <a:rPr lang="en-US" sz="2966" spc="-180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esultado</a:t>
            </a:r>
            <a:r>
              <a:rPr lang="en-US" sz="2966" spc="-180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imediato, mesmo sem internet.</a:t>
            </a:r>
          </a:p>
          <a:p>
            <a:pPr algn="l">
              <a:lnSpc>
                <a:spcPts val="4152"/>
              </a:lnSpc>
            </a:pPr>
            <a:r>
              <a:rPr lang="en-US" sz="2966" spc="-180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🚦 Indicação visual por semáforo (verde, amarelo e vermelho).</a:t>
            </a:r>
          </a:p>
          <a:p>
            <a:pPr algn="l">
              <a:lnSpc>
                <a:spcPts val="4152"/>
              </a:lnSpc>
            </a:pPr>
          </a:p>
          <a:p>
            <a:pPr algn="l">
              <a:lnSpc>
                <a:spcPts val="415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95911" y="6147309"/>
            <a:ext cx="6464839" cy="270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568" spc="-156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Regra de Segurança</a:t>
            </a:r>
          </a:p>
          <a:p>
            <a:pPr algn="l">
              <a:lnSpc>
                <a:spcPts val="3596"/>
              </a:lnSpc>
            </a:pPr>
            <a:r>
              <a:rPr lang="en-US" sz="2568" spc="-156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🟢</a:t>
            </a:r>
            <a:r>
              <a:rPr lang="en-US" sz="2568" spc="-156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V</a:t>
            </a:r>
            <a:r>
              <a:rPr lang="en-US" sz="2568" spc="-156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er</a:t>
            </a:r>
            <a:r>
              <a:rPr lang="en-US" sz="2568" spc="-156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de: produto seguro.</a:t>
            </a:r>
          </a:p>
          <a:p>
            <a:pPr algn="l">
              <a:lnSpc>
                <a:spcPts val="3596"/>
              </a:lnSpc>
            </a:pPr>
            <a:r>
              <a:rPr lang="en-US" sz="2568" spc="-156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🟡 Amarelo: dúvida, traços ou informação insuficiente.</a:t>
            </a:r>
          </a:p>
          <a:p>
            <a:pPr algn="l">
              <a:lnSpc>
                <a:spcPts val="3596"/>
              </a:lnSpc>
              <a:spcBef>
                <a:spcPct val="0"/>
              </a:spcBef>
            </a:pPr>
            <a:r>
              <a:rPr lang="en-US" sz="2568" spc="-156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🔴 Vermelho: contém glúten.</a:t>
            </a:r>
          </a:p>
          <a:p>
            <a:pPr algn="l">
              <a:lnSpc>
                <a:spcPts val="359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146979" y="7099457"/>
            <a:ext cx="7144949" cy="203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839" spc="-173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Benefício</a:t>
            </a:r>
          </a:p>
          <a:p>
            <a:pPr algn="l">
              <a:lnSpc>
                <a:spcPts val="4254"/>
              </a:lnSpc>
              <a:spcBef>
                <a:spcPct val="0"/>
              </a:spcBef>
            </a:pPr>
            <a:r>
              <a:rPr lang="en-US" sz="3039" spc="-185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🛡️ Mais segurança</a:t>
            </a:r>
            <a:r>
              <a:rPr lang="en-US" sz="3039" spc="-185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3039" spc="-185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e</a:t>
            </a:r>
            <a:r>
              <a:rPr lang="en-US" sz="3039" spc="-185">
                <a:solidFill>
                  <a:srgbClr val="392053"/>
                </a:solidFill>
                <a:latin typeface="Nunito Sans"/>
                <a:ea typeface="Nunito Sans"/>
                <a:cs typeface="Nunito Sans"/>
                <a:sym typeface="Nunito Sans"/>
              </a:rPr>
              <a:t> confiança na compra de alimentos.</a:t>
            </a:r>
          </a:p>
          <a:p>
            <a:pPr algn="l">
              <a:lnSpc>
                <a:spcPts val="3974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1581001">
            <a:off x="-4972919" y="-239394"/>
            <a:ext cx="9945838" cy="2536189"/>
          </a:xfrm>
          <a:custGeom>
            <a:avLst/>
            <a:gdLst/>
            <a:ahLst/>
            <a:cxnLst/>
            <a:rect r="r" b="b" t="t" l="l"/>
            <a:pathLst>
              <a:path h="2536189" w="9945838">
                <a:moveTo>
                  <a:pt x="0" y="0"/>
                </a:moveTo>
                <a:lnTo>
                  <a:pt x="9945838" y="0"/>
                </a:lnTo>
                <a:lnTo>
                  <a:pt x="9945838" y="2536188"/>
                </a:lnTo>
                <a:lnTo>
                  <a:pt x="0" y="2536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599421">
            <a:off x="32276" y="348629"/>
            <a:ext cx="2517619" cy="2517619"/>
          </a:xfrm>
          <a:custGeom>
            <a:avLst/>
            <a:gdLst/>
            <a:ahLst/>
            <a:cxnLst/>
            <a:rect r="r" b="b" t="t" l="l"/>
            <a:pathLst>
              <a:path h="2517619" w="2517619">
                <a:moveTo>
                  <a:pt x="0" y="0"/>
                </a:moveTo>
                <a:lnTo>
                  <a:pt x="2517619" y="0"/>
                </a:lnTo>
                <a:lnTo>
                  <a:pt x="2517619" y="2517619"/>
                </a:lnTo>
                <a:lnTo>
                  <a:pt x="0" y="25176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8299" y="-129942"/>
            <a:ext cx="7314180" cy="10287000"/>
            <a:chOff x="0" y="0"/>
            <a:chExt cx="192636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636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26368">
                  <a:moveTo>
                    <a:pt x="0" y="0"/>
                  </a:moveTo>
                  <a:lnTo>
                    <a:pt x="1926368" y="0"/>
                  </a:lnTo>
                  <a:lnTo>
                    <a:pt x="192636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13D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2636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313D21"/>
                  </a:solidFill>
                  <a:latin typeface="Open Sans"/>
                  <a:ea typeface="Open Sans"/>
                  <a:cs typeface="Open Sans"/>
                  <a:sym typeface="Open Sans"/>
                </a:rPr>
                <a:t>Consultoria em Nutrição Esportiva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5400000">
            <a:off x="8813987" y="5867027"/>
            <a:ext cx="4294101" cy="7334645"/>
          </a:xfrm>
          <a:custGeom>
            <a:avLst/>
            <a:gdLst/>
            <a:ahLst/>
            <a:cxnLst/>
            <a:rect r="r" b="b" t="t" l="l"/>
            <a:pathLst>
              <a:path h="7334645" w="4294101">
                <a:moveTo>
                  <a:pt x="4294101" y="7334645"/>
                </a:moveTo>
                <a:lnTo>
                  <a:pt x="0" y="7334645"/>
                </a:lnTo>
                <a:lnTo>
                  <a:pt x="0" y="0"/>
                </a:lnTo>
                <a:lnTo>
                  <a:pt x="4294101" y="0"/>
                </a:lnTo>
                <a:lnTo>
                  <a:pt x="4294101" y="73346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2019575" y="-3863827"/>
            <a:ext cx="4294101" cy="7334645"/>
          </a:xfrm>
          <a:custGeom>
            <a:avLst/>
            <a:gdLst/>
            <a:ahLst/>
            <a:cxnLst/>
            <a:rect r="r" b="b" t="t" l="l"/>
            <a:pathLst>
              <a:path h="7334645" w="4294101">
                <a:moveTo>
                  <a:pt x="4294102" y="0"/>
                </a:moveTo>
                <a:lnTo>
                  <a:pt x="0" y="0"/>
                </a:lnTo>
                <a:lnTo>
                  <a:pt x="0" y="7334645"/>
                </a:lnTo>
                <a:lnTo>
                  <a:pt x="4294102" y="7334645"/>
                </a:lnTo>
                <a:lnTo>
                  <a:pt x="42941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930846">
            <a:off x="1240647" y="970608"/>
            <a:ext cx="8664675" cy="2209492"/>
          </a:xfrm>
          <a:custGeom>
            <a:avLst/>
            <a:gdLst/>
            <a:ahLst/>
            <a:cxnLst/>
            <a:rect r="r" b="b" t="t" l="l"/>
            <a:pathLst>
              <a:path h="2209492" w="8664675">
                <a:moveTo>
                  <a:pt x="0" y="0"/>
                </a:moveTo>
                <a:lnTo>
                  <a:pt x="8664675" y="0"/>
                </a:lnTo>
                <a:lnTo>
                  <a:pt x="8664675" y="2209492"/>
                </a:lnTo>
                <a:lnTo>
                  <a:pt x="0" y="2209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293715" y="0"/>
            <a:ext cx="10994285" cy="10287000"/>
            <a:chOff x="0" y="0"/>
            <a:chExt cx="1703302" cy="1593725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1703302" cy="1593725"/>
            </a:xfrm>
            <a:custGeom>
              <a:avLst/>
              <a:gdLst/>
              <a:ahLst/>
              <a:cxnLst/>
              <a:rect r="r" b="b" t="t" l="l"/>
              <a:pathLst>
                <a:path h="1593725" w="1703302">
                  <a:moveTo>
                    <a:pt x="1703302" y="0"/>
                  </a:moveTo>
                  <a:lnTo>
                    <a:pt x="0" y="0"/>
                  </a:lnTo>
                  <a:lnTo>
                    <a:pt x="0" y="1593725"/>
                  </a:lnTo>
                  <a:lnTo>
                    <a:pt x="1703302" y="1593725"/>
                  </a:lnTo>
                  <a:close/>
                </a:path>
              </a:pathLst>
            </a:custGeom>
            <a:blipFill>
              <a:blip r:embed="rId6"/>
              <a:stretch>
                <a:fillRect l="0" t="-32758" r="0" b="-276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66021" y="5565399"/>
            <a:ext cx="5237937" cy="580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7"/>
              </a:lnSpc>
              <a:spcBef>
                <a:spcPct val="0"/>
              </a:spcBef>
            </a:pPr>
            <a:r>
              <a:rPr lang="en-US" sz="3398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Obrigado Boa noite !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5502" y="2098224"/>
            <a:ext cx="12556911" cy="142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4"/>
              </a:lnSpc>
            </a:pPr>
            <a:r>
              <a:rPr lang="en-US" sz="8360">
                <a:solidFill>
                  <a:srgbClr val="FFFFFF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NUTRI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2481" y="2635359"/>
            <a:ext cx="3545022" cy="227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79"/>
              </a:lnSpc>
            </a:pPr>
            <a:r>
              <a:rPr lang="en-US" sz="13271" i="true" spc="-955">
                <a:solidFill>
                  <a:srgbClr val="AC88DC"/>
                </a:solidFill>
                <a:latin typeface="Noto Serif Display Italics"/>
                <a:ea typeface="Noto Serif Display Italics"/>
                <a:cs typeface="Noto Serif Display Italics"/>
                <a:sym typeface="Noto Serif Display Italics"/>
              </a:rPr>
              <a:t>Scan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1942775">
            <a:off x="3773072" y="847678"/>
            <a:ext cx="2205735" cy="2205735"/>
          </a:xfrm>
          <a:custGeom>
            <a:avLst/>
            <a:gdLst/>
            <a:ahLst/>
            <a:cxnLst/>
            <a:rect r="r" b="b" t="t" l="l"/>
            <a:pathLst>
              <a:path h="2205735" w="2205735">
                <a:moveTo>
                  <a:pt x="0" y="0"/>
                </a:moveTo>
                <a:lnTo>
                  <a:pt x="2205735" y="0"/>
                </a:lnTo>
                <a:lnTo>
                  <a:pt x="2205735" y="2205735"/>
                </a:lnTo>
                <a:lnTo>
                  <a:pt x="0" y="22057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DAHU1jkdEX0</dc:identifier>
  <dcterms:modified xsi:type="dcterms:W3CDTF">2011-08-01T06:04:30Z</dcterms:modified>
  <cp:revision>1</cp:revision>
  <dc:title>Nutriri</dc:title>
</cp:coreProperties>
</file>